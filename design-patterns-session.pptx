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146304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Design Patterns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What they are, why they exist, and the 15 you will actually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Arial"/>
              </a:rPr>
              <a:t>Node.js · Express · TypeScript · Mongoose · Jest      |      Running example: the Online Exam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8356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4256"/>
                <a:gridCol w="1083564"/>
                <a:gridCol w="541782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Block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Min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1 · What a pattern is (and is not)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Shared definition and vocabulary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2 · Why patterns exist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Think in axes of change, not catalogs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3 · The principles underneath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SOLID + encapsulate what varies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4 · The three categories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Mental index of the 23 GoF patterns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5 · Deep dive: 15 patterns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Problem → code → trade-offs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6 · Look-alike patterns compared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Strategy vs State vs Template Method…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7 · Anti-patterns and how to choose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Know when NOT to use one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8 · Apply it to your project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Concrete refactors + exercise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PART 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What is a design pattern?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94A3B8"/>
                </a:solidFill>
                <a:latin typeface="Arial"/>
              </a:rPr>
              <a:t>Definition, anatomy, and what it is 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Arial"/>
              </a:rPr>
              <a:t>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835640" cy="1371600"/>
          </a:xfrm>
          <a:prstGeom prst="rect">
            <a:avLst/>
          </a:prstGeom>
          <a:solidFill>
            <a:srgbClr val="F8FAFC"/>
          </a:solidFill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Arial"/>
              </a:rPr>
              <a:t>A named, reusable solution to a problem that recurs in a particular context, described together with its consequences and trade-offs.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10835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Arial"/>
              </a:rPr>
              <a:t>Recurring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6B7280"/>
                </a:solidFill>
                <a:latin typeface="Arial"/>
              </a:rPr>
              <a:t>It shows up again and again across projects. A one-off trick is not a pattern.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Arial"/>
              </a:rPr>
              <a:t>Context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6B7280"/>
                </a:solidFill>
                <a:latin typeface="Arial"/>
              </a:rPr>
              <a:t>It solves the problem under certain forces. Change the forces and it stops fitting.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Arial"/>
              </a:rPr>
              <a:t>Consequences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</a:rPr>
              <a:t>Every pattern buys something and pays somewhere else. No stated cost = marketing, not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Christopher Alexander, 1977 (buildings) → Gang of Four, 1994 (software): 23 patterns everyone still cites.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Anatomy of a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74"/>
                <a:gridCol w="7880465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Section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Question it answers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What do we call it so the team knows instantly? "Wrap it in a Decorator"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Intent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One sentence: what does it accomplish?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Problem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What pain shows up without it?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Structure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Which participants, which relationships?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Consequences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What gets easier, what gets harder, what it costs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Known uses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Where you already meet it in real libraries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Use this shape when you argue about design in a review — especially the Consequences 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A pattern is NOT…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74"/>
                <a:gridCol w="7880465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Not this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A library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You cannot npm install strategy. Libraries implement patterns; a pattern is a shape you write.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An algorithm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Quicksort = what steps. Strategy = how to swap the steps.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A finished design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It is a template. You adapt names, types, participants to your domain.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An architecture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Layered / Hexagonal / MVC are system-level. GoF is class &amp; object level.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A goal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Nobody is paid for "used 8 patterns". You are paid for code that survives change.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Three levels — this session is the middle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1083564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urier New"/>
              </a:rPr>
              <a:t>Architecture patterns    Layered · Hexagonal (Ports &amp; Adapters) · MVC · CQRS · Event-Driven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urier New"/>
              </a:rPr>
              <a:t>        ^  system shape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urier New"/>
              </a:rPr>
              <a:t>Design patterns (GoF)    Strategy · Factory · Decorator · Observer · Adapter · State ·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urier New"/>
              </a:rPr>
              <a:t>        ^  class &amp; object shape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F2937"/>
                </a:solidFill>
                <a:latin typeface="Courier New"/>
              </a:rPr>
              <a:t>Idioms                   language-specific: TS discriminated unions, Node module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10835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0F172A"/>
                </a:solidFill>
                <a:latin typeface="Arial"/>
              </a:rPr>
              <a:t>Plus two enterprise patterns you use every day: Repository and Dependency Injection.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PART 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Why use design patterns?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94A3B8"/>
                </a:solidFill>
                <a:latin typeface="Arial"/>
              </a:rPr>
              <a:t>Benefits, forces, and honest costs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Five real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Arial"/>
              </a:rPr>
              <a:t>•  Shared vocabulary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     "Extract a Strategy for scoring" replaces three minutes of whiteboard.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Arial"/>
              </a:rPr>
              <a:t>•  Proven trade-offs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     Somebody already hit this wall and wrote down the cost.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Arial"/>
              </a:rPr>
              <a:t>•  Change absorption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     Almost every pattern isolates ONE axis of change. That is the whole game.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Arial"/>
              </a:rPr>
              <a:t>•  Testability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     Patterns push dependencies to interfaces — which is what makes unit tests possible.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F2937"/>
                </a:solidFill>
                <a:latin typeface="Arial"/>
              </a:rPr>
              <a:t>•  Onboarding speed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     A new engineer who sees PaymentStrategy knows the shape before reading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The forces you are actually fighting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35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Arial"/>
              </a:rPr>
              <a:t>1.   What is likely to change here?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      The algorithm · the data source · the number of steps · the transport · the vendor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Arial"/>
              </a:rPr>
              <a:t>2.   Who is allowed to know about whom?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      Dependency direction. Domain must not import Express, Mongoose, or nodemailer.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Arial"/>
              </a:rPr>
              <a:t>3.   How do I add behaviour WITHOUT editing tested code?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      Open/Closed in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If you cannot name the axis of change, you do not need a pattern yet.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The honest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74"/>
                <a:gridCol w="7880465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Shape it takes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Arial"/>
                        </a:rPr>
                        <a:t>Indirection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More files, more hops to read one behaviour.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Arial"/>
                        </a:rPr>
                        <a:t>Cognitive load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A junior reading 4 classes for a 3-line if is slower, not faster.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Arial"/>
                        </a:rPr>
                        <a:t>Premature generality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An abstraction fitted to an imagined future fits the real future badly.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Arial"/>
                        </a:rPr>
                        <a:t>The wrong pattern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Costs more than no pattern — it actively misleads readers about intent.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Rule of thumb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10835640" cy="1828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Write the simple thing first. When the SECOND reason to change arrives, refactor toward the pattern that isolates that change.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59E0B"/>
                </a:solidFill>
                <a:latin typeface="Arial"/>
              </a:rPr>
              <a:t>Patterns are usually a refactoring destination, not a starting blueprint.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97680"/>
            <a:ext cx="10835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Exception — day-one patterns that are cheap and standard: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Arial"/>
              </a:rPr>
              <a:t>Repository at the data boundary · Dependency Injection at the composition root · Middleware chain in Express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PART 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The principles underneath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94A3B8"/>
                </a:solidFill>
                <a:latin typeface="Arial"/>
              </a:rPr>
              <a:t>Derive patterns instead of memorizing them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Encapsulate what varies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>
                <a:solidFill>
                  <a:srgbClr val="1F2937"/>
                </a:solidFill>
                <a:latin typeface="Arial"/>
              </a:rPr>
              <a:t>•  Find what changes. Put it behind a stable interface. Let the rest depend on the interface.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>
                <a:solidFill>
                  <a:srgbClr val="1F2937"/>
                </a:solidFill>
                <a:latin typeface="Arial"/>
              </a:rPr>
              <a:t>•  Creational patterns vary WHAT GETS CREATED.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>
                <a:solidFill>
                  <a:srgbClr val="1F2937"/>
                </a:solidFill>
                <a:latin typeface="Arial"/>
              </a:rPr>
              <a:t>•  Behavioral patterns vary WHAT GETS EXECUTED.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>
                <a:solidFill>
                  <a:srgbClr val="1F2937"/>
                </a:solidFill>
                <a:latin typeface="Arial"/>
              </a:rPr>
              <a:t>•  Structural patterns vary WHAT GETS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Learn the principle and you can derive the pattern — the catalog becomes a lookup, not a memory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Program to an interface, not an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9105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525780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class AuthService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async register(dto: RegisterDto)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    // welded to Mongoose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const user = await UserModel.create(dto);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    // welded to nodemailer + SMTP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await nodemailer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  .createTransport(smtpOptions)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  .sendMail(welcomeMail(user));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Unit test needs: a real DB, or deep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jest.mock() of two modules.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9105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Good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920240"/>
            <a:ext cx="525780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class AuthService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constructor(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private readonly users: UserRepository,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private readonly mailer: Mailer,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async register(dto: RegisterDto)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const user = await this.users.create(dto);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await this.mailer.send(welcomeEmail(user));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Unit test needs: two plain fakes.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Vendor swap: one file.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Favor composition over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35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Arial"/>
              </a:rPr>
              <a:t>extends  =  "B IS-A A"  ·  compile time  ·  one parent  ·  you inherit everything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4155"/>
                </a:solidFill>
                <a:latin typeface="Arial"/>
              </a:rPr>
              <a:t>constructor collaborator  =  "B HAS-A A"  ·  runtime  ·  any number  ·  you expose only what you choose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8833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Subclass explosion — combinations MULTIPLY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017520"/>
            <a:ext cx="5257800" cy="21488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B7280"/>
                </a:solidFill>
                <a:latin typeface="Courier New"/>
              </a:rPr>
              <a:t>// 3 channels x 2 concerns = 12 classes.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B7280"/>
                </a:solidFill>
                <a:latin typeface="Courier New"/>
              </a:rPr>
              <a:t>// The next concern doubles it again.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class EmailNotifier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class RetryingEmailNotifier extends EmailNotifier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class AuditedEmailNotifier extends EmailNotifier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class AuditedRetryingEmailNotifier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extends RetryingEmailNotifier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B7280"/>
                </a:solidFill>
                <a:latin typeface="Courier New"/>
              </a:rPr>
              <a:t>// ...repeat all of it for SMS and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68833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Composition — concerns ADD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017520"/>
            <a:ext cx="5257800" cy="21488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B7280"/>
                </a:solidFill>
                <a:latin typeface="Courier New"/>
              </a:rPr>
              <a:t>// 3 channels + 2 wrappers = 5 classes.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B7280"/>
                </a:solidFill>
                <a:latin typeface="Courier New"/>
              </a:rPr>
              <a:t>// Any combination, chosen at runtime.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const notifier = new AuditedNotifier(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new RetryingNotifier(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  new EmailNotifier(config), 3,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auditLog,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B7280"/>
                </a:solidFill>
                <a:latin typeface="Courier New"/>
              </a:rPr>
              <a:t>// This is the Decorator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Also: fragile base class (subclass depends on the parent's internals) · one parent only · a subclass that throws "not supported" breaks Liskov.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3 ·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extends vs holding the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8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513"/>
                <a:gridCol w="4040408"/>
                <a:gridCol w="4407717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Inheritance (extends)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Composition (collaborator)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Relationship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is-a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has-a / uses-a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Bound at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Compile time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Runtime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How many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One parent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Any number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Coupled to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The parent's internals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The collaborator's interface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Swap in a test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Only by subclassing again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Pass a fake to the constructor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Add a behaviour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New subclass per combination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New wrapper — combinations are free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Most GoF patterns are structurally "replace this subclass with an object you hold": Strategy, Decorator, Adapter, Bridge, State.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3 ·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When inheritance IS the right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35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>
                <a:solidFill>
                  <a:srgbClr val="334155"/>
                </a:solidFill>
                <a:latin typeface="Arial"/>
              </a:rPr>
              <a:t>Composition is the default, not a ban. Use extends when: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 The skeleton is real and stable, and only steps vary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    That is Template Method — ReportGenerator with abstract fetchData() / render().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 A framework requires it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    class AppError extends Error, Express error classes, custom Mongoose types. Do not fight it.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 The subtype genuinely satisfies Liskov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    Anywhere the parent works, the child works — no method that throws "not supported".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 And keep it shallow — two levels is the practical limit.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50" b="0">
                <a:solidFill>
                  <a:srgbClr val="1F2937"/>
                </a:solidFill>
                <a:latin typeface="Arial"/>
              </a:rPr>
              <a:t>TypeScript: prefer `implements` (contract, zero inherited code). Structural typing means a test fake needs no base class. A stateless strategy can just be a function.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Rule: reach for extends only if you would defend "a B IS-A A, everywhere, with no exceptions".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SOLID →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688"/>
                <a:gridCol w="4240033"/>
                <a:gridCol w="3768918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One line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Patterns that deliver it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S — Single Responsibility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One reason to change per module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Facade · Repository · Command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O — Open/Closed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Open to extension, closed to modification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Strategy · Decorator · Chain of Resp.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L — Liskov Substitution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Any implementation usable through the interface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Every polymorphic pattern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I — Interface Segregation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Many small interfaces beat one fat one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Adapter · split Repositories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D — Dependency Inversion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Policy must not depend on detail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DI · Repository · Adapter · Factory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3 · CLEAN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The dependency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94560"/>
            <a:ext cx="10835640" cy="19202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1F2937"/>
                </a:solidFill>
                <a:latin typeface="Courier New"/>
              </a:rPr>
              <a:t>  controller  ──▶  service (domain policy)  ──▶  «interface» QuizRepository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1F2937"/>
                </a:solidFill>
                <a:latin typeface="Courier New"/>
              </a:rPr>
              <a:t>   (Express)         no framework imports                  ▲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1F2937"/>
                </a:solidFill>
                <a:latin typeface="Courier New"/>
              </a:rPr>
              <a:t>                                                           │ implements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1F2937"/>
                </a:solidFill>
                <a:latin typeface="Courier New"/>
              </a:rPr>
              <a:t>                                              MongooseQuizRepository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1F2937"/>
                </a:solidFill>
                <a:latin typeface="Courier New"/>
              </a:rPr>
              <a:t>                                                  (infrastructure)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10835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100" b="1">
                <a:solidFill>
                  <a:srgbClr val="0F172A"/>
                </a:solidFill>
                <a:latin typeface="Arial"/>
              </a:rPr>
              <a:t>Dependencies point INWARD. The domain never imports Express, Mongoose, or nodemailer.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6B7280"/>
                </a:solidFill>
                <a:latin typeface="Arial"/>
              </a:rPr>
              <a:t>Patterns are the tools that let you honour that arrow.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PART 4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The three categories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94A3B8"/>
                </a:solidFill>
                <a:latin typeface="Arial"/>
              </a:rPr>
              <a:t>Creational · Structural · Behavioral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Three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573"/>
                <a:gridCol w="7537836"/>
                <a:gridCol w="942229"/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Question it answers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Arial"/>
                        </a:rPr>
                        <a:t>Creational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Arial"/>
                        </a:rPr>
                        <a:t>How is an object created? Decouple code from concrete constructors.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Arial"/>
                        </a:rPr>
                        <a:t>Structural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Arial"/>
                        </a:rPr>
                        <a:t>How are objects composed into bigger structures?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937"/>
                          </a:solidFill>
                          <a:latin typeface="Arial"/>
                        </a:rPr>
                        <a:t>Behavioral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Arial"/>
                        </a:rPr>
                        <a:t>How do objects interact and share responsibility?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93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23 GoF patterns + 2 enterprise patterns you use daily: Repository and Dependency Injection.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4 · CREATIONAL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Creational — use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74"/>
                <a:gridCol w="7880465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Use when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Factory Method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A subclass or config decides which concrete class to instantiate.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Abstract Factory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You need FAMILIES of related objects that must stay consistent.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Builder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An object has many optional parts, or needs step-by-step assembly.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Prototype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Cloning a configured object is cheaper or safer than rebuilding it.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Singleton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Exactly one instance must exist — the most abused pattern in the list.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4 ·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Structural — use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74"/>
                <a:gridCol w="7880465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Use when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Adapter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Two incompatible interfaces must work together (third-party SDK vs your port).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Bridge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Abstraction and implementation must vary independently (type × channel).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Composite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Clients treat a single item and a tree of items uniformly.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Decorator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Add behaviour at runtime without touching the class (cache, log, retry).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Facade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A simple entry point over a complicated subsystem.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Flyweight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Thousands of objects share immutable state; store it once.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Proxy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Same interface, controlled access: lazy, cached, authorized, remote.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4 · BEHAVIORAL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Behavioral — use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74"/>
                <a:gridCol w="7880465"/>
              </a:tblGrid>
              <a:tr h="350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Use when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Chain of Responsibility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 request passes handlers until one deals with it (Express middleware).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Command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Turn a request into an object: queue it, log it, retry it, undo it.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Interpreter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You have a small language or grammar to evaluate.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Iterator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Traverse a collection without exposing its internals.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Mediator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Many components talk; centralize the protocol instead of an N×N mesh.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Memento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Capture and restore state without breaking encapsulation.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Observer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One-to-many notification when state changes (EventEmitter, webhooks).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Behaviour changes with lifecycle, and switch blocks are multiplying.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Interchangeable algorithms picked at runtime.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Template Method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Fixed algorithm skeleton, variable steps.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Visitor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New operations over a stable object structure.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PART 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Deep dive: the 15 you will use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94A3B8"/>
                </a:solidFill>
                <a:latin typeface="Arial"/>
              </a:rPr>
              <a:t>Strategy · Factory · Builder · Singleton · Repository · DI · Adapter · Facade · Decorator · Proxy · CoR · Observer · Command · Template Method · State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 · BEHAVIORAL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Strategy — swap the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35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334155"/>
                </a:solidFill>
                <a:latin typeface="Arial"/>
              </a:rPr>
              <a:t>Intent: define a family of interchangeable algorithms, encapsulate each, make them swappable at runtime.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85416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Problem: quiz scoring rules keep multiplying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14600"/>
            <a:ext cx="10835640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Bad — one class, many reasons to change (SRP + Open/Closed violated)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class ScoringService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score(quiz: Quiz, answers: Answer[]): number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switch (quiz.scoringType)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  case 'simple':   return answers.filter((a) =&gt; a.isCorrect).length;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  case 'negative': return correctCount(answers) - wrongCount(answers) * 0.25;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  case 'weighted': return answers.reduce((s, a) =&gt; a.isCorrect ? s + a.question.weight : s, 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  default: throw new Error(`Unknown scoring type: ${quiz.scoringType}`);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Every new business rule edits a class that is already written and already tested.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 ·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Strategy — the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91056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interface ScoringStrategy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score(answers: Answer[]): number;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class SimpleScoring implements ScoringStrategy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score(answers: Answer[]) { return answers.filter((a) =&gt; a.isCorrect).length;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class NegativeMarkingScoring implements ScoringStrategy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constructor(private readonly penaltyPerWrongAnswer = 0.25)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score(answers: Answer[])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const correct = answers.filter((a) =&gt; a.isCorrect).length;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return correct - (answers.length - correct) * this.penaltyPerWrongAnswer;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class ScoringService {                       // the context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constructor(private readonly strategy: ScoringStrategy)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score(answers: Answer[]) { return this.strategy.score(answers);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Each strategy is pure input → output: no HTTP, no DB, one trivial unit test each.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 ·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Strategy — selection &amp; TypeScript shortcut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Selection is a LOOKUP, not a switch scattered across the codebase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const SCORING_STRATEGIES: Record&lt;ScoringType, ScoringStrategy&gt; =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simple: new SimpleScoring(),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negative: new NegativeMarkingScoring(),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weighted: new WeightedScoring(),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const scoringStrategyFor = (type: ScoringType) =&gt; SCORING_STRATEGIES[type];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Stateless strategy? A function type is enough in TypeScript.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type ScoringStrategy = (answers: Answer[]) =&gt; number;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const simpleScoring: ScoringStrategy = (a) =&gt; a.filter((x) =&gt; x.isCorrect).length;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10835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803D"/>
                </a:solidFill>
                <a:latin typeface="Arial"/>
              </a:rPr>
              <a:t>Use when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Variants chosen at runtime by config/tenant/data · a switch over a "type" field keeps growing · you want each variant tested alone.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Do not use when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Two branches that will never grow · variants differ only in DATA (use a config object, not three classes).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Known uses: passport strategies · bcrypt vs argon2 behind PasswordHasher · body-parser per content type.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5.2 · CREATIONAL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Factory — one place decides the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82496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10835640" cy="12344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Bad — every call site knows every concrete class AND how to configure 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const notifier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channel === 'email' ? new EmailNotifier(process.env.SMTP_URL!, templates)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: channel === 'sms' ? new SmsNotifier(process.env.TWILIO_SID!, process.env.TWILIO_TOKEN!)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: new PushNotifier(firebaseApp);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94760"/>
            <a:ext cx="10835640" cy="21031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class NotifierFactory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constructor(private readonly config: NotificationConfig)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create(channel: NotificationChannel): Notifier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switch (channel)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  case 'email': return new EmailNotifier(this.config.smtpUrl);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  case 'sms':   return new SmsNotifier(this.config.twilio);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  case 'push':  return new PushNotifier(this.config.firebase);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  default: throw new UnsupportedChannelError(channel);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The switch did not disappear — it got confined to one file that exists for exactly this reason.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5.2 ·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Factory — notes and naming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 Factory Method (GoF)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     a method a subclass overrides to pick the concrete class.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 Simple / Static Factory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     a class whose only job is create(...). Not in the book, used everywhere, what you will write.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 Abstract Factory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     creates a consistent FAMILY: prod container vs in-memory test container.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 Use when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     construction needs config/secrets/collaborators, or the type depends on runtime input.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 Mistakes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     a factory returning any (type safety gone) · a factory that also does work (that is a service).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Known uses: mongoose.model() · express() · createServer() · test data factories.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5.3 · CREATIONAL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Builder — step-by-step assembly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9105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525780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Telescoping parameters: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nobody can read the call site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const quiz = new Quiz(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'Math 101', 30, true, false,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10, undefined, ['algebra'], 0.25,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What is `true`? What is `0.25`?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Which ones are optional?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Invalid combinations are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constructible and only blow up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later, at runtime.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9105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Good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920240"/>
            <a:ext cx="525780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const quiz = new QuizBuilder()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.withTitle('Math 101')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.withDuration(30)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.withQuestion(question1)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.shuffled()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.build();          // validates 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build(): Quiz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if (!this.draft.title)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throw new InvalidQuizError('title');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if (!this.draft.questions?.length)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throw new InvalidQuizError('questions');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return new Quiz(this.draft as QuizProps);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An invalid object never exists: validation happens once, in build().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5.3 ·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Builder — where it earns its keep: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18288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Test data builder / Object Mother — kills setup duplication in Jest specs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const aQuiz = (overrides: Partial&lt;QuizProps&gt; = {}): Quiz =&gt;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new Quiz({ title: 'Sample', durationMinutes: 10, questions: [aQuestion()], ...overrides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it('rejects submission after the deadline', ()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const quiz = aQuiz({ durationMinutes: 1 });     // only the relevant field is visible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0835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803D"/>
                </a:solidFill>
                <a:latin typeface="Arial"/>
              </a:rPr>
              <a:t>Use when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Many optional parameters · the object must be validated as a whole · fluent construction matters (queries, fixtures, HTTP clients).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Do not use when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2–3 required fields — an options object literal is simpler and TypeScript already names the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Known uses: mongoose Query chains · Knex / TypeORM query builders · supertest request chains.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5.4 · CREATIONAL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Singleton — one instance, and the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36776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Legitimate: connection pool, config, logger, cache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108356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In Node, module caching already gives you a singleton — idiomatic and enough.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let connection: Connection | null = null;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const connectDatabase = async (uri: string): Promise&lt;Connection&gt;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if (connection) return connection;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connection = await mongoose.createConnection(uri).asPromise();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return connection;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Why it is the most criticized pattern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1F2937"/>
                </a:solidFill>
                <a:latin typeface="Arial"/>
              </a:rPr>
              <a:t>• Hidden dependency — the constructor signature lies about what the class needs.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1F2937"/>
                </a:solidFill>
                <a:latin typeface="Arial"/>
              </a:rPr>
              <a:t>• Untestable — global state survives between Jest tests; one mutation breaks the next.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Arial"/>
              </a:rPr>
              <a:t>• "One per process" ≠ one per system once you run 4 pods.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977639"/>
            <a:ext cx="5212080" cy="20116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Better default: create ONCE at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composition root, then INJECT it.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const logger = createLogger(config);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const quizService = new QuizService(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quizRepository,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logger,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Still one instance.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No global reach-in.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5.5 ·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Repository — the data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3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334155"/>
                </a:solidFill>
                <a:latin typeface="Arial"/>
              </a:rPr>
              <a:t>Intent: expose a collection-like interface so the domain never knows a database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39696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10835640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Bad — the service IS a Mongoose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class QuizService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async publish(quizId: string)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const quiz = await QuizModel.findById(quizId).populate('questions').lean();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if (!quiz) throw new NotFoundError('quiz');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await QuizModel.updateOne({ _id: quizId }, { $set: { status: 'published' }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Unit test =&gt; real DB, mongodb-memory-server, or a mock of a fluent Mongoose chain.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Business rule (who may publish, when) is now tangled with query syntax.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clean-code.md CC-2xx: layering and the dependency rule.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5.5 ·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Repository — port + adapter + pure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91056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B7280"/>
                </a:solidFill>
                <a:latin typeface="Courier New"/>
              </a:rPr>
              <a:t>// domain owns the interface (the port)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export interface QuizRepository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findById(id: QuizId): Promise&lt;Quiz | null&gt;;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save(quiz: Quiz): Promise&lt;void&gt;;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B7280"/>
                </a:solidFill>
                <a:latin typeface="Courier New"/>
              </a:rPr>
              <a:t>// infrastructure owns the Mongoose detail (the adapter)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export class MongooseQuizRepository implements QuizRepository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constructor(private readonly model: Model&lt;QuizDocument&gt;)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async findById(id: QuizId)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  const document = await this.model.findById(id).lean();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  return document ? toDomain(document) : null;          // map OUT of Mongoose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async save(quiz: Quiz) { await this.model.updateOne({ _id: quiz.id }, { $set: toPersistence(quiz) });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B7280"/>
                </a:solidFill>
                <a:latin typeface="Courier New"/>
              </a:rPr>
              <a:t>// service = pure policy, no query syntax anywhere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export class QuizService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constructor(private readonly quizzes: QuizRepository)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async publish(quizId: QuizId)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  const quiz = await this.quizzes.findById(quizId);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  if (!quiz) throw new NotFoundError('quiz');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  quiz.publish();                                       // rule lives in the entity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  await this.quizzes.save(quiz);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5.5 ·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Repository — the payoff, and the fake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36776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Test fake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1083564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class InMemoryQuizRepository implements QuizRepository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private readonly store = new Map&lt;QuizId, Quiz&gt;();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async findById(id: QuizId) { return this.store.get(id) ?? null;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async save(quiz: Quiz) { this.store.set(quiz.id, quiz);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Service specs now run in milliseconds, with no jest.mock of Mongoose internals.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0835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B91C1C"/>
                </a:solidFill>
                <a:latin typeface="Arial"/>
              </a:rPr>
              <a:t>The boundary is FAKE if…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F2937"/>
                </a:solidFill>
                <a:latin typeface="Arial"/>
              </a:rPr>
              <a:t>• findById(): Promise&lt;QuizDocument&gt;  — the ODM type leaks and the domain depends on Mongoose again.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F2937"/>
                </a:solidFill>
                <a:latin typeface="Arial"/>
              </a:rPr>
              <a:t>• find(filter: FilterQuery&lt;Quiz&gt;)  — Mongo query objects crossing the boundary. Same leak.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F2937"/>
                </a:solidFill>
                <a:latin typeface="Arial"/>
              </a:rPr>
              <a:t>• Business rules inside the repository. Repositories store and retrieve; services decide.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50" b="0">
                <a:solidFill>
                  <a:srgbClr val="1F2937"/>
                </a:solidFill>
                <a:latin typeface="Arial"/>
              </a:rPr>
              <a:t>• A thin CRUD proxy with zero domain logic — then be honest and skip the layer.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5.6 ·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Dependency Injection — how the pieces meet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9105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525780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class AuthService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private readonly users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new MongooseUserRepository(UserModel);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private readonly mailer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new SmtpMailer(process.env.SMTP_URL!);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Hidden. Unswappable.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Untestable without module mocks.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9105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Good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920240"/>
            <a:ext cx="525780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class AuthService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constructor(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private readonly users: UserRepository,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private readonly mailer: Mailer,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private readonly tokens: TokenIssuer,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Declared. Swappable. Testable.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No framework needed: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constructor parameters ARE 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Mistakes: injecting the container itself (Service Locator — dependencies hidden again) · injecting pure helpers.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5.6 · DEPENDENCY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The composition root — the one place that knows concrete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6B7280"/>
                </a:solidFill>
                <a:latin typeface="Courier New"/>
              </a:rPr>
              <a:t>// src/container.ts — wire the object graph ONCE, at the edge of the 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export const buildContainer = (config: AppConfig)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const users  = new MongooseUserRepository(UserModel);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const mailer = new SmtpMailer(config.smtpUrl);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const tokens = new JwtTokenIssuer(config.jwtSecret);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const authService = new AuthService(users, mailer, tokens);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return { authService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6B7280"/>
                </a:solidFill>
                <a:latin typeface="Courier New"/>
              </a:rPr>
              <a:t>// src/app.ts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const { authService } = buildContainer(config);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app.use('/api/auth', buildAuthRouter(authService));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Everything else in the codebase stays ignorant of concrete classes. Tests build their own container.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5.7 ·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Adapter — make incompatible things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Your domain wants this shape: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interface Mailer { send(email: OutgoingEmail): Promise&lt;void&gt;;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SendGrid wants its own shape. The adapter translates — and nothing else.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class SendGridMailer implements Mailer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constructor(private readonly client: MailService)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async send(email: OutgoingEmail): Promise&lt;void&gt;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await this.client.send({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  to: email.to, from: email.from, subject: email.subject, html: email.body,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Swapping vendors = one new adapter, zero domain edits.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class ConsoleMailer implements Mailer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async send(email: OutgoingEmail) { console.info(`[mail] ${email.subject} -&gt; ${email.to}`);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Mistakes: an adapter that also retries or caches (that is a Decorator) · vendor types in the port signature.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5.8 ·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Facade — one simple door over a subsystem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export class ExamSubmissionFacade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constructor(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private readonly attempts: AttemptRepository, private readonly scoring: ScoringService,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private readonly dashboard: DashboardStatsUpdater, private readonly notifier: Notifier,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private readonly clock: Clock,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async submit(command: SubmitAttemptCommand): Promise&lt;AttemptResult&gt;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const attempt = await this.attempts.findById(command.attemptId);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if (!attempt) throw new NotFoundError('attempt');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attempt.ensureNotExpired(this.clock.now());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const result = this.scoring.score(command.answers);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attempt.complete(result);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await this.attempts.save(attempt);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await this.dashboard.recordAttempt(attempt);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await this.notifier.notify(attempt.studentId, resultMessage(result));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  return result;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6B7280"/>
                </a:solidFill>
                <a:latin typeface="Courier New"/>
              </a:rPr>
              <a:t>// The controller shrinks to HTTP translation: toCommand(req) → res.json(result).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It ORCHESTRATES, it does not implement. A facade that owns all the logic is a God object.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5.9 ·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Decorator — add behaviour, same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91056"/>
            <a:ext cx="1083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34155"/>
                </a:solidFill>
                <a:latin typeface="Arial"/>
              </a:rPr>
              <a:t>Alternative to CachedLoggedRetryingQuizRepository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class CachingQuizRepository implements QuizRepository {   // same interface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constructor(private readonly inner: QuizRepository, private readonly cache: Cache)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async findById(id: QuizId): Promise&lt;Quiz | null&gt;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const cached = await this.cache.get&lt;Quiz&gt;(`quiz:${id}`);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if (cached) return cached;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const quiz = await this.inner.findById(id);            // delegate to the wrapped object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if (quiz) await this.cache.set(`quiz:${id}`, quiz, { ttlSeconds: 60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  return quiz;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save(quiz: Quiz) { return this.inner.save(quiz); }        // delegate the rest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Let the compiler help: implementing the interface makes a forgotten delegation a compile error.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5.9 · DECORATOR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Decorator — compose at the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65960"/>
            <a:ext cx="10835640" cy="187451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const repository = new LoggingQuizRepository(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new CachingQuizRepository(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 new MongooseQuizRepository(QuizModel),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 redisCache,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logger,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6B7280"/>
                </a:solidFill>
                <a:latin typeface="Courier New"/>
              </a:rPr>
              <a:t>// Order is explicit and swappable. In tests: just don't wrap.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10835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803D"/>
                </a:solidFill>
                <a:latin typeface="Arial"/>
              </a:rPr>
              <a:t>Use when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Cross-cutting concerns: caching, logging, metrics, retry, rate limiting, authorization · behaviour must be optional per environment.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91C1C"/>
                </a:solidFill>
                <a:latin typeface="Arial"/>
              </a:rPr>
              <a:t>Do not use when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Only one combination will ever exist · the added behaviour changes the contract (different return type) — then it is not a Decorator.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Known uses: Express middleware wrapping handlers · React.memo · Node stream pipe chains.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5.10 ·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Proxy — same interface, controlled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2645"/>
                <a:gridCol w="8372994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Flavour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Arial"/>
                        </a:rPr>
                        <a:t>Virtual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Delay expensive creation or loading until first use (lazy DB connection).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Arial"/>
                        </a:rPr>
                        <a:t>Protection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Enforce permissions before delegating (only the quiz author may edit).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Arial"/>
                        </a:rPr>
                        <a:t>Remote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Local stand-in for a remote service (HTTP client behind the domain interface).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Arial"/>
                        </a:rPr>
                        <a:t>Caching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Arial"/>
                        </a:rPr>
                        <a:t>Serve stored results instead of recomputing.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Decorator vs Proxy: identical structure, different intent — Decorator ADDS behaviour, Proxy CONTROLS access.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5.11 · BEHAVIORAL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Chain of Responsibility — you already use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B7280"/>
                </a:solidFill>
                <a:latin typeface="Courier New"/>
              </a:rPr>
              <a:t>// Express middleware IS this pattern: each handler does its bit, then calls next()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const authenticate = (req: Request, res: Response, next: NextFunction)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const token = req.headers.authorization?.replace('Bearer ', '');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if (!token) return next(new UnauthorizedError('missing token'));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req.user = tokenIssuer.verify(token);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next();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export const authorize = (...roles: Role[]) =&gt; (req, res, next)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if (!roles.includes(req.user.role)) return next(new ForbiddenError());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 next();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1F2937"/>
                </a:solidFill>
                <a:latin typeface="Courier New"/>
              </a:rPr>
              <a:t>router.post('/quizzes', authenticate, authorize('instructor'), validate(schema), createQuiz);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Mistakes: forgetting next() (the request hangs until timeout) · links that know about each other.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5.12 · BEHAVIORAL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Observer — notify many, know none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Producer knows nothing about consumers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await this.events.publish({ name: 'attempt.submitted', payload: { attemptId, score } });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Consumers register themselves at the composition root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events.subscribe('attempt.submitted', updateDashboardStats);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events.subscribe('attempt.submitted', emailResultToStudent);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events.subscribe('attempt.submitted', writeAuditLog);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Node's EventEmitter is an Observer implementation you already have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export class InProcessEventBus implements EventBus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private readonly emitter = new EventEmitter();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async publish(event: DomainEvent) { this.emitter.emit(event.name, event);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subscribe(name: DomainEvent['name'], handler: (e: DomainEvent) =&gt; Promise&lt;void&gt;)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this.emitter.on(name, (e) =&gt; void handler(e).catch((error) =&gt; logger.error(error)));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Without it, submit() gains a new reason to change every time somebody wants another side effect.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5.12 · OBSERVER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Observer — the sharp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•  Use when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     the side effect is genuinely OPTIONAL to the core operation, and reactions will grow.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•  Do NOT use when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     the reaction is required for correctness — events make control flow implicit and failures invisible. Call it directly.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•  Memory leaks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     unbounded listeners → MaxListenersExceededWarning. Unsubscribe.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•  Swallowed errors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     a failed handler silently loses data unless you log and route failures.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•  Event chains 4 deep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     nobody can answer "what happens when a student submits?"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Known uses: EventEmitter · Mongoose pre('save') hooks · WebSocket broadcast · webhooks.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5.13 · BEHAVIORAL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Command — a request as an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export interface Command&lt;TResult = void&gt; { execute(): Promise&lt;TResult&gt;;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export class GradeAttemptCommand implements Command&lt;AttemptResult&gt;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constructor(private readonly attemptId: AttemptId, private readonly attempts: AttemptRepository,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          private readonly scoring: ScoringService)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async execute(): Promise&lt;AttemptResult&gt;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const attempt = await this.attempts.findById(this.attemptId);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if (!attempt) throw new NotFoundError('attempt');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const result = this.scoring.score(attempt.answers);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attempt.complete(result); await this.attempts.save(attempt);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return result;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// Because the request is an object, infrastructure treats ALL requests uniformly: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class RetryingInvoker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async run&lt;T&gt;(command: Command&lt;T&gt;, attempts = 3): Promise&lt;T&gt; { /* retry loop */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Use for: background jobs &amp; queues (BullMQ payload) · undo/redo · audit trails · CQRS handlers.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5.14 · BEHAVIORAL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Template Method — fixed skeleton, variable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export abstract class ReportGenerator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B7280"/>
                </a:solidFill>
                <a:latin typeface="Courier New"/>
              </a:rPr>
              <a:t>  // The template method: fixed 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async generate(userId: UserId): Promise&lt;Buffer&gt;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const data = await this.fetchData(userId);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const rows = this.transform(data);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return this.render(rows);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protected abstract fetchData(userId: UserId): Promise&lt;RawStats&gt;;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protected abstract render(rows: ReportRow[]): Promise&lt;Buffer&gt;;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protected transform(data: RawStats): ReportRow[] {   // shared default: a "hook"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  return data.attempts.map(toReportRow);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F2937"/>
                </a:solidFill>
                <a:latin typeface="Courier New"/>
              </a:rPr>
              <a:t>export class PdfReportGenerator extends ReportGenerator { /* fetchData + render */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vs Strategy: inheritance &amp; compile time vs composition &amp; runtime. Prefer Strategy unless the skeleton is real and stable.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5.15 · BEHAVIORAL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State — behaviour follows the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9105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Arial"/>
              </a:rPr>
              <a:t>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525780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urier New"/>
              </a:rPr>
              <a:t>// Every method re-implements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urier New"/>
              </a:rPr>
              <a:t>// the same state machine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class Attempt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submit()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  if (this.status === 'expired')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    throw new AttemptExpiredError();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  if (this.status === 'submitted')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    throw new AlreadySubmittedError();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  if (this.status !== 'in_progress')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    throw new InvalidStateError();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 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answer() { /* same 3 checks */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resume() { /* and again */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9105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</a:rPr>
              <a:t>Good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920240"/>
            <a:ext cx="5257800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interface AttemptState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answer(a: Attempt, x: Answer): void;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submit(a: Attempt): void;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class InProgressState implements AttemptState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answer(a, x) { a.record(x);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submit(a) { a.transitionTo(new SubmittedState());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class SubmittedState implements AttemptState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answer(): never { throw new AlreadySubmittedError();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submit(): never { throw new AlreadySubmittedError();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class Attempt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private state: AttemptState = new InProgressState();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  submit() { this.state.submit(this);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Illegal transitions become impossible instead of re-checked in five methods. Persist the state NAME, rebuild the object on load.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Honorable mentions — recognize, do not memorize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513"/>
                <a:gridCol w="4224063"/>
                <a:gridCol w="4224063"/>
              </a:tblGrid>
              <a:tr h="3823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20-second pitch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Where you meet it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Abstract Factory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 family of products that must match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Prod container vs test container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Composite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 tree looks like a leaf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Nested question sections, permission trees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Bridge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Two independent axes of variation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Notification type × channel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Iterator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Traverse without exposing internals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for...of, generators, cursor pagination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Mediator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Talk through a hub, not N×N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Socket.IO rooms, orchestrators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Memento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Snapshot and restore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Draft autosave, undo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Visitor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New operations, stable structure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AST tooling, linters, TS compiler API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Flyweight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Share immutable data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Interned strings, glyph caches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Prototype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Clone a configured object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structuredClone of a template quiz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Interpreter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Evaluate a small grammar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Filter DSLs, permission expressions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PART 6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Look-alike patterns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94A3B8"/>
                </a:solidFill>
                <a:latin typeface="Arial"/>
              </a:rPr>
              <a:t>Same structure, different intent — intent is what you name in a review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Strategy vs State vs Template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/>
                <a:gridCol w="2708910"/>
                <a:gridCol w="2979801"/>
                <a:gridCol w="2979801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Template Method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Varies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The algorithm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Behaviour per lifecycle state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Some steps of a fixed algorithm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Who chooses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Client / config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The object, by transitioning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The subclass, at compile time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Composition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Composition + self-transition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Inheritance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Parts know each other?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Usually yes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Base knows the step names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Exam example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Scoring rules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Attempt lifecycle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Report generation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Adapter vs Facade vs Proxy vs Decorator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/>
                <a:gridCol w="2167128"/>
                <a:gridCol w="2167128"/>
                <a:gridCol w="2167128"/>
                <a:gridCol w="2167128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Adapter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Facade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Proxy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Decorator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New, simpler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Intent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Make it fit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Simplify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Control access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Add behaviour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Objects wrapped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Many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1, stackable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Exam example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SendGridMailer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SubmissionFacade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AuthorizedRepo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CachingRepo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Factory vs Abstract Factory vs Builder  ·  Observer vs Command vs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8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989"/>
                <a:gridCol w="2539603"/>
                <a:gridCol w="3047523"/>
                <a:gridCol w="3047523"/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Factory Method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One product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"Which class?"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factory.create(type)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Abstract Factory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A family of products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"Which consistent set?"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f.createRepo(), f.createBus()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Builder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One complex product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"Which parts, in order?"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.withX().withY().build()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Observer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0..N receivers, all run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Publisher ignores subscribers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attempt.submitted fan-out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Command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1 receiver, later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Caller holds a request object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Queued grading job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Chain of Resp.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1..N until one stops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Sender ignores who handles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Express middleware stack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PART 7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Anti-patterns &amp; how to choose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94A3B8"/>
                </a:solidFill>
                <a:latin typeface="Arial"/>
              </a:rPr>
              <a:t>The most valuable skill is knowing when NOT to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Pattern abuse smells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416"/>
                <a:gridCol w="4837339"/>
                <a:gridCol w="3482884"/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Smell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What it looks like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Patternitis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AbstractQuizFactoryProviderStrategy for one impl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Delete layers until deleting one hurts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Speculative generality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Interfaces with exactly one implementation "for later"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YAGNI — add it when the 2nd impl exists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Golden hammer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Every problem gets a Strategy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Name the axis of change first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Anemic pattern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Repository returning Mongoose docs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Fix the boundary or drop the pretence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God facade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The facade owns all the logic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Push logic back down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Singleton soup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Globals reached from everywhere, flaky tests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Inject from the composition root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Arial"/>
                        </a:rPr>
                        <a:t>Event spaghetti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Handler publishes an event whose handler publishes…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Direct calls for required work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Choosing a pattern — decision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35640" cy="393192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tIns="109728" bIns="9144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1. What exactly is changing, or likely to change?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├─ How an object is CREATED ............. Factory · Builder · Abstract Factory · Prototype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├─ What ALGORITHM runs .................. Strategy · Template Method · State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├─ WHO is notified ...................... Observer · Mediator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├─ HOW things CONNECT ................... Adapter · Facade · Bridge · Composite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├─ EXTRA behaviour on an existing type .. Decorator · Proxy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└─ WHEN / IF a request runs ............. Command · Chain of Responsibility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2. Is it changing NOW, or might it change someday?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├─ Now, or it already changed twice ..... apply the pattern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└─ Someday ............................. write the simple version, note the seam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3. Can I name the cost out loud?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F2937"/>
                </a:solidFill>
                <a:latin typeface="Courier New"/>
              </a:rPr>
              <a:t>   └─ If not, you do not understand the pattern yet. Do not merge it.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Three questions for every code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1.   What varies here — and is it isolated?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2.   Which direction do the dependencies point?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Arial"/>
              </a:rPr>
              <a:t>3.   Could I unit test this without Mongo, the network, or the clock?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If all three answers are good, the design is fine — whether or not it has a pattern name.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PART 8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Apply it: the Online Exam Platform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94A3B8"/>
                </a:solidFill>
                <a:latin typeface="Arial"/>
              </a:rPr>
              <a:t>Concrete refactors in your own repo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Where each pattern pays off in your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6753"/>
                <a:gridCol w="2754823"/>
                <a:gridCol w="4224063"/>
              </a:tblGrid>
              <a:tr h="3823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Area in your project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Payoff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Repositories returning Mongoose docs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Repository + mapper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Services testable with in-memory fakes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Services constructing models/mailers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Dependency Injection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No jest.mock of modules, ever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Scoring / grading rules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New quiz types without editing tested code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Attempt lifecycle transitions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Illegal transitions impossible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Auth / validation / error middleware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Chain of Responsibility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Independent links, always call next()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Email / SMS providers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Adapter behind a port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Vendor swap = one file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Caching, logging, retry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Decorator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Zero cache code in the domain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Submit-attempt orchestration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Facade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Controllers become HTTP translation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Post-submission side effects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Observer (events)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Adding a reaction never touches submit()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Test setup duplication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Builder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Specs stop drowning in fixtures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Exercise — 15 minutes, in pairs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35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334155"/>
                </a:solidFill>
                <a:latin typeface="Arial"/>
              </a:rPr>
              <a:t>Pick ONE module in your team folder. Do exactly one of these: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Arial"/>
              </a:rPr>
              <a:t>1.  Extract a Repository interface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650" b="0">
                <a:solidFill>
                  <a:srgbClr val="1F2937"/>
                </a:solidFill>
                <a:latin typeface="Arial"/>
              </a:rPr>
              <a:t>     Write an InMemory*Repository. Rewrite one service spec to use the fake. Measure runtime before/after.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Arial"/>
              </a:rPr>
              <a:t>2.  Extract a Strategy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650" b="0">
                <a:solidFill>
                  <a:srgbClr val="1F2937"/>
                </a:solidFill>
                <a:latin typeface="Arial"/>
              </a:rPr>
              <a:t>     Take the largest switch / if-else chain you can find. Show the lookup map and one unit test per strategy.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Arial"/>
              </a:rPr>
              <a:t>3.  Wrap a repository in a Decorator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650" b="0">
                <a:solidFill>
                  <a:srgbClr val="1F2937"/>
                </a:solidFill>
                <a:latin typeface="Arial"/>
              </a:rPr>
              <a:t>     Log slow queries (&gt;100 ms) — without editing the repository class.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Deliverable: a diff plus two sentences — what varies, and what the pattern cost you.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TAKE-AWAY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Arial"/>
              </a:rPr>
              <a:t>Cheat sheet — signals →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0349"/>
                <a:gridCol w="4925290"/>
              </a:tblGrid>
              <a:tr h="3235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You see / say this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Reach for</a:t>
                      </a:r>
                    </a:p>
                  </a:txBody>
                  <a:tcPr marL="109728" marT="45720" marB="45720">
                    <a:solidFill>
                      <a:srgbClr val="0F172A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"Another case in this switch"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Strategy · Factory · State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"This test needs a real database"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Repository · Dependency Injection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"new with 6 arguments, half optional"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Builder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"The SDK's shape does not fit our code"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Adapter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"I need caching here but cannot touch the class"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Decorator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"This controller is 120 lines of orchestration"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Facade / application service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"Only the author may read this"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Proxy (protection)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"Every route repeats these three checks"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Chain of Responsibility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"Now also send an email when X happens"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Observer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"This work should run later / be retried"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Command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"These four flows differ in two steps"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Template Method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"This entity has a lifecycle with rules"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109728" marT="36576" marB="36576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Five closing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691640"/>
            <a:ext cx="12801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1.   Patterns are a vocabulary, not a checklist.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2.   Isolate what varies; leave everything else boring.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3.   Prefer composition. Use inheritance only when the skeleton is real and stable.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4.   Every pattern has a cost — say it out loud before you merge it.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5.   The best design is the simplest one that survives the NEXT change you can name.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F172A"/>
                </a:solidFill>
                <a:latin typeface="Arial"/>
              </a:rPr>
              <a:t>Further 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05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35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Gamma, Helm, Johnson, Vlissides — Design Patterns (1994)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The catalog. Reference, not a read-through.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Freeman &amp; Robson — Head First Design Patterns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The friendliest first pass.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Martin Fowler — Patterns of Enterprise Application Architecture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Repository, Unit of Work, Data Mapper.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Robert C. Martin — Clean Architecture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The dependency rule, in depth.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Martin Fowler — Refactoring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The moves that get you TO a pattern safely.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refactoring.guru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Visual catalog with TypeScript examples.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Questions?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59E0B"/>
                </a:solidFill>
                <a:latin typeface="Arial"/>
              </a:rPr>
              <a:t>Full handbook with every code example: docs/design-patterns-session.md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